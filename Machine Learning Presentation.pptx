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"/>
      <p:bold r:id="rId27"/>
      <p:boldItalic r:id="rId28"/>
    </p:embeddedFont>
    <p:embeddedFont>
      <p:font typeface="Oswald"/>
      <p:bold r:id="rId29"/>
    </p:embeddedFont>
    <p:embeddedFont>
      <p:font typeface="Inter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6fe8c474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6fe8c474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fe8c474e_3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6fe8c474e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6fe8c474e_3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6fe8c474e_3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fe8c474e_3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6fe8c474e_3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292a46793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292a46793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fe8c474e_3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6fe8c474e_3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6fe8c474e_3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6fe8c474e_3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6fe8c474e_3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6fe8c474e_3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6fe8c474e_3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6fe8c474e_3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6fe8c474e_3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6fe8c474e_3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6fe8c474e_3_1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6fe8c474e_3_1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6fe8c474e_3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6fe8c474e_3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292a46793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292a46793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6fe8c474e_3_19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6fe8c474e_3_20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6fe8c474e_3_22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6fe8c474e_3_33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 (g3d6fe8c474e_9_0)">
  <p:cSld name="Başlık slaydı (g3d6fe8c474e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 (g3d6fe8c474e_9_0) (g3d6fe8c474e_17_0)">
  <p:cSld name="Başlık slaydı (g3d6fe8c474e_9_0) (g3d6fe8c474e_17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ki sütun (g3d6fe8c474e_25_0)">
  <p:cSld name="Başlık ve iki sütun (g3d6fe8c474e_25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ki sütun (g3d6fe8c474e_44_0)">
  <p:cSld name="Başlık ve iki sütun (g3d6fe8c474e_44_0)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ki sütun (g3d6fe8c474e_63_0)">
  <p:cSld name="Başlık ve iki sütun (g3d6fe8c474e_63_0)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fe8c474e_94_0)">
  <p:cSld name="Generated (g3d6fe8c474e_94_0)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9"/>
          <p:cNvGrpSpPr/>
          <p:nvPr/>
        </p:nvGrpSpPr>
        <p:grpSpPr>
          <a:xfrm>
            <a:off x="-952500" y="-1428750"/>
            <a:ext cx="11430000" cy="7620000"/>
            <a:chOff x="-952500" y="-1428750"/>
            <a:chExt cx="11430000" cy="7620000"/>
          </a:xfrm>
        </p:grpSpPr>
        <p:sp>
          <p:nvSpPr>
            <p:cNvPr id="79" name="Google Shape;79;p19"/>
            <p:cNvSpPr/>
            <p:nvPr/>
          </p:nvSpPr>
          <p:spPr>
            <a:xfrm>
              <a:off x="6667500" y="-1428750"/>
              <a:ext cx="3810000" cy="3810000"/>
            </a:xfrm>
            <a:prstGeom prst="ellipse">
              <a:avLst/>
            </a:prstGeom>
            <a:solidFill>
              <a:srgbClr val="1E293B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9"/>
            <p:cNvSpPr/>
            <p:nvPr/>
          </p:nvSpPr>
          <p:spPr>
            <a:xfrm>
              <a:off x="-952500" y="3333750"/>
              <a:ext cx="2857500" cy="2857500"/>
            </a:xfrm>
            <a:prstGeom prst="ellipse">
              <a:avLst/>
            </a:prstGeom>
            <a:solidFill>
              <a:srgbClr val="334155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19"/>
          <p:cNvGrpSpPr/>
          <p:nvPr/>
        </p:nvGrpSpPr>
        <p:grpSpPr>
          <a:xfrm>
            <a:off x="762000" y="1524000"/>
            <a:ext cx="7620150" cy="1714500"/>
            <a:chOff x="762000" y="1524000"/>
            <a:chExt cx="7620150" cy="1714500"/>
          </a:xfrm>
        </p:grpSpPr>
        <p:sp>
          <p:nvSpPr>
            <p:cNvPr id="82" name="Google Shape;82;p19"/>
            <p:cNvSpPr/>
            <p:nvPr/>
          </p:nvSpPr>
          <p:spPr>
            <a:xfrm>
              <a:off x="762000" y="1524000"/>
              <a:ext cx="38100" cy="17145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9"/>
            <p:cNvSpPr txBox="1"/>
            <p:nvPr/>
          </p:nvSpPr>
          <p:spPr>
            <a:xfrm>
              <a:off x="1047750" y="1524000"/>
              <a:ext cx="733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3375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Machine Learning</a:t>
              </a:r>
              <a:endParaRPr b="1" sz="337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3375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Term Project</a:t>
              </a:r>
              <a:endParaRPr b="1" sz="337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84" name="Google Shape;84;p19"/>
            <p:cNvSpPr txBox="1"/>
            <p:nvPr/>
          </p:nvSpPr>
          <p:spPr>
            <a:xfrm>
              <a:off x="1047750" y="2857500"/>
              <a:ext cx="733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EnergyFit: </a:t>
              </a:r>
              <a:r>
                <a:rPr b="1" lang="tr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Realtime Energy Production Forecast App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9"/>
          <p:cNvGrpSpPr/>
          <p:nvPr/>
        </p:nvGrpSpPr>
        <p:grpSpPr>
          <a:xfrm>
            <a:off x="0" y="4572000"/>
            <a:ext cx="9144000" cy="571650"/>
            <a:chOff x="0" y="4572000"/>
            <a:chExt cx="9144000" cy="571650"/>
          </a:xfrm>
        </p:grpSpPr>
        <p:sp>
          <p:nvSpPr>
            <p:cNvPr id="86" name="Google Shape;86;p19"/>
            <p:cNvSpPr/>
            <p:nvPr/>
          </p:nvSpPr>
          <p:spPr>
            <a:xfrm>
              <a:off x="0" y="4572000"/>
              <a:ext cx="9144000" cy="96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0" y="4572000"/>
              <a:ext cx="9144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9"/>
            <p:cNvSpPr txBox="1"/>
            <p:nvPr/>
          </p:nvSpPr>
          <p:spPr>
            <a:xfrm>
              <a:off x="0" y="4572000"/>
              <a:ext cx="914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b="0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0" y="5086350"/>
              <a:ext cx="9144000" cy="573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9"/>
          <p:cNvSpPr txBox="1"/>
          <p:nvPr/>
        </p:nvSpPr>
        <p:spPr>
          <a:xfrm>
            <a:off x="6858000" y="1699260"/>
            <a:ext cx="152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9300">
                <a:solidFill>
                  <a:srgbClr val="1E293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endParaRPr sz="9300">
              <a:solidFill>
                <a:srgbClr val="1E293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0"/>
          <p:cNvGrpSpPr/>
          <p:nvPr/>
        </p:nvGrpSpPr>
        <p:grpSpPr>
          <a:xfrm>
            <a:off x="-4762" y="-476250"/>
            <a:ext cx="9529763" cy="5715000"/>
            <a:chOff x="-4762" y="-476250"/>
            <a:chExt cx="9529763" cy="5715000"/>
          </a:xfrm>
        </p:grpSpPr>
        <p:sp>
          <p:nvSpPr>
            <p:cNvPr id="96" name="Google Shape;96;p20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0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" name="Google Shape;9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3562350"/>
              <a:ext cx="9148800" cy="495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20"/>
          <p:cNvGrpSpPr/>
          <p:nvPr/>
        </p:nvGrpSpPr>
        <p:grpSpPr>
          <a:xfrm>
            <a:off x="297464" y="318096"/>
            <a:ext cx="7634920" cy="2696306"/>
            <a:chOff x="268376" y="278342"/>
            <a:chExt cx="8113624" cy="2865058"/>
          </a:xfrm>
        </p:grpSpPr>
        <p:grpSp>
          <p:nvGrpSpPr>
            <p:cNvPr id="100" name="Google Shape;100;p20"/>
            <p:cNvGrpSpPr/>
            <p:nvPr/>
          </p:nvGrpSpPr>
          <p:grpSpPr>
            <a:xfrm>
              <a:off x="268376" y="278342"/>
              <a:ext cx="4113124" cy="2865058"/>
              <a:chOff x="268376" y="278342"/>
              <a:chExt cx="4113124" cy="2865058"/>
            </a:xfrm>
          </p:grpSpPr>
          <p:sp>
            <p:nvSpPr>
              <p:cNvPr id="101" name="Google Shape;101;p20"/>
              <p:cNvSpPr/>
              <p:nvPr/>
            </p:nvSpPr>
            <p:spPr>
              <a:xfrm>
                <a:off x="762000" y="952500"/>
                <a:ext cx="36195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0"/>
              <p:cNvSpPr txBox="1"/>
              <p:nvPr/>
            </p:nvSpPr>
            <p:spPr>
              <a:xfrm>
                <a:off x="268376" y="278342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r" sz="3011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What is the problem?</a:t>
                </a:r>
                <a:endParaRPr b="1" sz="3011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sp>
            <p:nvSpPr>
              <p:cNvPr id="103" name="Google Shape;103;p20"/>
              <p:cNvSpPr/>
              <p:nvPr/>
            </p:nvSpPr>
            <p:spPr>
              <a:xfrm>
                <a:off x="268376" y="897467"/>
                <a:ext cx="381000" cy="38100"/>
              </a:xfrm>
              <a:prstGeom prst="rect">
                <a:avLst/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0"/>
              <p:cNvSpPr/>
              <p:nvPr/>
            </p:nvSpPr>
            <p:spPr>
              <a:xfrm>
                <a:off x="762000" y="1714500"/>
                <a:ext cx="3619500" cy="1428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0"/>
              <p:cNvSpPr txBox="1"/>
              <p:nvPr/>
            </p:nvSpPr>
            <p:spPr>
              <a:xfrm>
                <a:off x="268376" y="1040342"/>
                <a:ext cx="3619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" sz="1317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Balancing supply and demand in the national electricity grid is highly challenging. Overproduction leads to energy waste and financial loss, while underproduction causes power outages (blackouts).</a:t>
                </a:r>
                <a:endParaRPr b="0" sz="131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6" name="Google Shape;106;p20"/>
            <p:cNvGrpSpPr/>
            <p:nvPr/>
          </p:nvGrpSpPr>
          <p:grpSpPr>
            <a:xfrm>
              <a:off x="4268876" y="278342"/>
              <a:ext cx="4113124" cy="2865058"/>
              <a:chOff x="4268876" y="278342"/>
              <a:chExt cx="4113124" cy="2865058"/>
            </a:xfrm>
          </p:grpSpPr>
          <p:sp>
            <p:nvSpPr>
              <p:cNvPr id="107" name="Google Shape;107;p20"/>
              <p:cNvSpPr/>
              <p:nvPr/>
            </p:nvSpPr>
            <p:spPr>
              <a:xfrm>
                <a:off x="4762500" y="952500"/>
                <a:ext cx="36195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0"/>
              <p:cNvSpPr txBox="1"/>
              <p:nvPr/>
            </p:nvSpPr>
            <p:spPr>
              <a:xfrm>
                <a:off x="4268876" y="278342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r" sz="3011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Our Solution</a:t>
                </a:r>
                <a:endParaRPr b="1" sz="3011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sp>
            <p:nvSpPr>
              <p:cNvPr id="109" name="Google Shape;109;p20"/>
              <p:cNvSpPr/>
              <p:nvPr/>
            </p:nvSpPr>
            <p:spPr>
              <a:xfrm>
                <a:off x="4268876" y="897467"/>
                <a:ext cx="381000" cy="38100"/>
              </a:xfrm>
              <a:prstGeom prst="rect">
                <a:avLst/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0"/>
              <p:cNvSpPr/>
              <p:nvPr/>
            </p:nvSpPr>
            <p:spPr>
              <a:xfrm>
                <a:off x="4762500" y="1714500"/>
                <a:ext cx="3619500" cy="1428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0"/>
              <p:cNvSpPr txBox="1"/>
              <p:nvPr/>
            </p:nvSpPr>
            <p:spPr>
              <a:xfrm>
                <a:off x="4268876" y="1040342"/>
                <a:ext cx="3619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" sz="1317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The "EnergyFit" application analyzes historical production and time data to predict the future hourly </a:t>
                </a:r>
                <a:r>
                  <a:rPr b="1" lang="tr" sz="1317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Total Energy Production Load</a:t>
                </a:r>
                <a:r>
                  <a:rPr lang="tr" sz="1317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using Machine Learning (Regression). Thus, it provides a strategic decision-support system for grid operators.</a:t>
                </a:r>
                <a:endParaRPr sz="131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1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12" name="Google Shape;112;p20"/>
          <p:cNvPicPr preferRelativeResize="0"/>
          <p:nvPr/>
        </p:nvPicPr>
        <p:blipFill rotWithShape="1">
          <a:blip r:embed="rId5">
            <a:alphaModFix/>
          </a:blip>
          <a:srcRect b="51872" l="0" r="11434" t="0"/>
          <a:stretch/>
        </p:blipFill>
        <p:spPr>
          <a:xfrm>
            <a:off x="3906050" y="2621700"/>
            <a:ext cx="5486075" cy="2189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0"/>
          <p:cNvGrpSpPr/>
          <p:nvPr/>
        </p:nvGrpSpPr>
        <p:grpSpPr>
          <a:xfrm>
            <a:off x="-4750" y="4667250"/>
            <a:ext cx="9148800" cy="476400"/>
            <a:chOff x="-4750" y="4667250"/>
            <a:chExt cx="9148800" cy="476400"/>
          </a:xfrm>
        </p:grpSpPr>
        <p:sp>
          <p:nvSpPr>
            <p:cNvPr id="114" name="Google Shape;114;p20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0"/>
            <p:cNvSpPr txBox="1"/>
            <p:nvPr/>
          </p:nvSpPr>
          <p:spPr>
            <a:xfrm>
              <a:off x="-4750" y="4667250"/>
              <a:ext cx="9148800" cy="381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1"/>
          <p:cNvGrpSpPr/>
          <p:nvPr/>
        </p:nvGrpSpPr>
        <p:grpSpPr>
          <a:xfrm>
            <a:off x="-4762" y="-476250"/>
            <a:ext cx="9529763" cy="5715000"/>
            <a:chOff x="-4762" y="-476250"/>
            <a:chExt cx="9529763" cy="5715000"/>
          </a:xfrm>
        </p:grpSpPr>
        <p:sp>
          <p:nvSpPr>
            <p:cNvPr id="121" name="Google Shape;121;p21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" name="Google Shape;12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3562350"/>
              <a:ext cx="9148800" cy="49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21"/>
          <p:cNvSpPr txBox="1"/>
          <p:nvPr>
            <p:ph type="title"/>
          </p:nvPr>
        </p:nvSpPr>
        <p:spPr>
          <a:xfrm>
            <a:off x="297180" y="318135"/>
            <a:ext cx="571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System Infrastructure: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21"/>
          <p:cNvGrpSpPr/>
          <p:nvPr/>
        </p:nvGrpSpPr>
        <p:grpSpPr>
          <a:xfrm>
            <a:off x="-4762" y="4667250"/>
            <a:ext cx="9148800" cy="476400"/>
            <a:chOff x="-4762" y="4667250"/>
            <a:chExt cx="9148800" cy="476400"/>
          </a:xfrm>
        </p:grpSpPr>
        <p:sp>
          <p:nvSpPr>
            <p:cNvPr id="127" name="Google Shape;127;p21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1"/>
            <p:cNvSpPr txBox="1"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İbrahim Sürensoy | Mehmet Emir Selvi</a:t>
              </a:r>
              <a:endParaRPr b="0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6912" y="935225"/>
            <a:ext cx="7366426" cy="398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2"/>
          <p:cNvGrpSpPr/>
          <p:nvPr/>
        </p:nvGrpSpPr>
        <p:grpSpPr>
          <a:xfrm>
            <a:off x="-4762" y="-476250"/>
            <a:ext cx="9529763" cy="5715000"/>
            <a:chOff x="-4762" y="-476250"/>
            <a:chExt cx="9529763" cy="5715000"/>
          </a:xfrm>
        </p:grpSpPr>
        <p:sp>
          <p:nvSpPr>
            <p:cNvPr id="136" name="Google Shape;136;p22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8" name="Google Shape;138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3562350"/>
              <a:ext cx="9148800" cy="49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22"/>
          <p:cNvSpPr txBox="1"/>
          <p:nvPr>
            <p:ph type="title"/>
          </p:nvPr>
        </p:nvSpPr>
        <p:spPr>
          <a:xfrm>
            <a:off x="297180" y="318135"/>
            <a:ext cx="571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Our Dataset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297180" y="1047750"/>
            <a:ext cx="85497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Data:</a:t>
            </a:r>
            <a:r>
              <a:rPr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Real-time (hourly) energy production data from January 01, 2025, to April 01, 2025.</a:t>
            </a:r>
            <a:endParaRPr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Volume:</a:t>
            </a:r>
            <a:r>
              <a:rPr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Thousands of hourly records spanning multiple months.</a:t>
            </a:r>
            <a:endParaRPr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Features:</a:t>
            </a:r>
            <a:r>
              <a:rPr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Production amounts from energy sources like Natural Gas, Dam (Hydroelectric), Wind, Solar, along with "Date/Time" metrics.</a:t>
            </a:r>
            <a:endParaRPr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b="1" lang="tr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Target Variable:</a:t>
            </a:r>
            <a:r>
              <a:rPr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tr" sz="1400">
                <a:solidFill>
                  <a:srgbClr val="38BDF8"/>
                </a:solidFill>
                <a:highlight>
                  <a:srgbClr val="1E293B"/>
                </a:highlight>
                <a:latin typeface="Courier New"/>
                <a:ea typeface="Courier New"/>
                <a:cs typeface="Courier New"/>
                <a:sym typeface="Courier New"/>
              </a:rPr>
              <a:t>Toplam</a:t>
            </a:r>
            <a:r>
              <a:rPr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(Total). Since this is a continuous numerical variable, we are solving a </a:t>
            </a:r>
            <a:r>
              <a:rPr i="1"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r>
              <a:rPr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problem.</a:t>
            </a:r>
            <a:endParaRPr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2" name="Google Shape;142;p22"/>
          <p:cNvGrpSpPr/>
          <p:nvPr/>
        </p:nvGrpSpPr>
        <p:grpSpPr>
          <a:xfrm>
            <a:off x="-4762" y="4667250"/>
            <a:ext cx="9148800" cy="476400"/>
            <a:chOff x="-4762" y="4667250"/>
            <a:chExt cx="9148800" cy="476400"/>
          </a:xfrm>
        </p:grpSpPr>
        <p:sp>
          <p:nvSpPr>
            <p:cNvPr id="143" name="Google Shape;143;p22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2"/>
            <p:cNvSpPr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2"/>
            <p:cNvSpPr txBox="1"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3"/>
          <p:cNvGrpSpPr/>
          <p:nvPr/>
        </p:nvGrpSpPr>
        <p:grpSpPr>
          <a:xfrm>
            <a:off x="-4762" y="-476250"/>
            <a:ext cx="9529763" cy="5715000"/>
            <a:chOff x="-4762" y="-476250"/>
            <a:chExt cx="9529763" cy="5715000"/>
          </a:xfrm>
        </p:grpSpPr>
        <p:sp>
          <p:nvSpPr>
            <p:cNvPr id="151" name="Google Shape;151;p23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3562350"/>
              <a:ext cx="9148800" cy="49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23"/>
          <p:cNvSpPr txBox="1"/>
          <p:nvPr>
            <p:ph type="title"/>
          </p:nvPr>
        </p:nvSpPr>
        <p:spPr>
          <a:xfrm>
            <a:off x="297180" y="318135"/>
            <a:ext cx="571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Exploratory Data Analysis &amp; Preprocessing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295275" y="1143000"/>
            <a:ext cx="8553450" cy="3143400"/>
            <a:chOff x="295275" y="1143000"/>
            <a:chExt cx="8553450" cy="3143400"/>
          </a:xfrm>
        </p:grpSpPr>
        <p:grpSp>
          <p:nvGrpSpPr>
            <p:cNvPr id="157" name="Google Shape;157;p23"/>
            <p:cNvGrpSpPr/>
            <p:nvPr/>
          </p:nvGrpSpPr>
          <p:grpSpPr>
            <a:xfrm>
              <a:off x="295275" y="1143000"/>
              <a:ext cx="2667000" cy="3143400"/>
              <a:chOff x="295275" y="1143000"/>
              <a:chExt cx="2667000" cy="3143400"/>
            </a:xfrm>
          </p:grpSpPr>
          <p:sp>
            <p:nvSpPr>
              <p:cNvPr id="158" name="Google Shape;158;p23"/>
              <p:cNvSpPr/>
              <p:nvPr/>
            </p:nvSpPr>
            <p:spPr>
              <a:xfrm>
                <a:off x="295275" y="1143000"/>
                <a:ext cx="2667000" cy="3143400"/>
              </a:xfrm>
              <a:prstGeom prst="roundRect">
                <a:avLst>
                  <a:gd fmla="val 4285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23"/>
              <p:cNvSpPr txBox="1"/>
              <p:nvPr/>
            </p:nvSpPr>
            <p:spPr>
              <a:xfrm>
                <a:off x="438150" y="1285875"/>
                <a:ext cx="23814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r" sz="14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01. Summary Statistics</a:t>
                </a:r>
                <a:endParaRPr b="1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tr" sz="11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We analyzed the distribution of energy production across different hours and days. A clear </a:t>
                </a:r>
                <a:r>
                  <a:rPr b="1" lang="tr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daily seasonality</a:t>
                </a:r>
                <a:r>
                  <a:rPr b="0" lang="tr" sz="11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 was observed, with peaks during evenings and lows at night.</a:t>
                </a:r>
                <a:endParaRPr b="0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0" name="Google Shape;160;p23"/>
            <p:cNvGrpSpPr/>
            <p:nvPr/>
          </p:nvGrpSpPr>
          <p:grpSpPr>
            <a:xfrm>
              <a:off x="3238500" y="1143000"/>
              <a:ext cx="2667000" cy="3143400"/>
              <a:chOff x="3238500" y="1143000"/>
              <a:chExt cx="2667000" cy="3143400"/>
            </a:xfrm>
          </p:grpSpPr>
          <p:sp>
            <p:nvSpPr>
              <p:cNvPr id="161" name="Google Shape;161;p23"/>
              <p:cNvSpPr/>
              <p:nvPr/>
            </p:nvSpPr>
            <p:spPr>
              <a:xfrm>
                <a:off x="3238500" y="1143000"/>
                <a:ext cx="2667000" cy="3143400"/>
              </a:xfrm>
              <a:prstGeom prst="roundRect">
                <a:avLst>
                  <a:gd fmla="val 4285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23"/>
              <p:cNvSpPr txBox="1"/>
              <p:nvPr/>
            </p:nvSpPr>
            <p:spPr>
              <a:xfrm>
                <a:off x="3381375" y="1285875"/>
                <a:ext cx="23814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r" sz="14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02. Missing Values</a:t>
                </a:r>
                <a:endParaRPr b="1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tr" sz="11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Instead of dropping rows and breaking time-series continuity, we filled missing values with the </a:t>
                </a:r>
                <a:r>
                  <a:rPr b="0" lang="tr" sz="1100">
                    <a:solidFill>
                      <a:srgbClr val="FACC15"/>
                    </a:solidFill>
                    <a:highlight>
                      <a:srgbClr val="0F172A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median</a:t>
                </a:r>
                <a:r>
                  <a:rPr b="0" lang="tr" sz="11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 value to preserve data integrity.</a:t>
                </a:r>
                <a:endParaRPr b="0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3" name="Google Shape;163;p23"/>
            <p:cNvGrpSpPr/>
            <p:nvPr/>
          </p:nvGrpSpPr>
          <p:grpSpPr>
            <a:xfrm>
              <a:off x="6181725" y="1143000"/>
              <a:ext cx="2667000" cy="3143400"/>
              <a:chOff x="6181725" y="1143000"/>
              <a:chExt cx="2667000" cy="3143400"/>
            </a:xfrm>
          </p:grpSpPr>
          <p:sp>
            <p:nvSpPr>
              <p:cNvPr id="164" name="Google Shape;164;p23"/>
              <p:cNvSpPr/>
              <p:nvPr/>
            </p:nvSpPr>
            <p:spPr>
              <a:xfrm>
                <a:off x="6181725" y="1143000"/>
                <a:ext cx="2667000" cy="3143400"/>
              </a:xfrm>
              <a:prstGeom prst="roundRect">
                <a:avLst>
                  <a:gd fmla="val 4285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23"/>
              <p:cNvSpPr txBox="1"/>
              <p:nvPr/>
            </p:nvSpPr>
            <p:spPr>
              <a:xfrm>
                <a:off x="6324600" y="1285875"/>
                <a:ext cx="23814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r" sz="14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03. Scaling</a:t>
                </a:r>
                <a:endParaRPr b="1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tr" sz="11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All numerical features were standardized using </a:t>
                </a:r>
                <a:r>
                  <a:rPr b="0" lang="tr" sz="1100">
                    <a:solidFill>
                      <a:srgbClr val="CE917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StandardScaler</a:t>
                </a:r>
                <a:r>
                  <a:rPr b="0" lang="tr" sz="11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. This ensures faster model convergence and prevents bias from different data scales.</a:t>
                </a:r>
                <a:endParaRPr b="0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66" name="Google Shape;166;p23"/>
          <p:cNvGrpSpPr/>
          <p:nvPr/>
        </p:nvGrpSpPr>
        <p:grpSpPr>
          <a:xfrm>
            <a:off x="-4762" y="4667250"/>
            <a:ext cx="9148800" cy="476400"/>
            <a:chOff x="-4762" y="4667250"/>
            <a:chExt cx="9148800" cy="476400"/>
          </a:xfrm>
        </p:grpSpPr>
        <p:sp>
          <p:nvSpPr>
            <p:cNvPr id="167" name="Google Shape;167;p23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 txBox="1"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4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175" name="Google Shape;175;p24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24"/>
          <p:cNvGrpSpPr/>
          <p:nvPr/>
        </p:nvGrpSpPr>
        <p:grpSpPr>
          <a:xfrm>
            <a:off x="-4762" y="4667250"/>
            <a:ext cx="9148800" cy="476400"/>
            <a:chOff x="-4762" y="4667250"/>
            <a:chExt cx="9148800" cy="476400"/>
          </a:xfrm>
        </p:grpSpPr>
        <p:sp>
          <p:nvSpPr>
            <p:cNvPr id="178" name="Google Shape;178;p24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4"/>
            <p:cNvSpPr txBox="1"/>
            <p:nvPr/>
          </p:nvSpPr>
          <p:spPr>
            <a:xfrm>
              <a:off x="-4762" y="4667250"/>
              <a:ext cx="9148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81" name="Google Shape;181;p24"/>
          <p:cNvSpPr txBox="1"/>
          <p:nvPr>
            <p:ph type="title"/>
          </p:nvPr>
        </p:nvSpPr>
        <p:spPr>
          <a:xfrm>
            <a:off x="297180" y="31813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How our system works? (Training Pipeline)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24"/>
          <p:cNvGrpSpPr/>
          <p:nvPr/>
        </p:nvGrpSpPr>
        <p:grpSpPr>
          <a:xfrm>
            <a:off x="285750" y="1143000"/>
            <a:ext cx="1619100" cy="3143400"/>
            <a:chOff x="285750" y="1143000"/>
            <a:chExt cx="1619100" cy="3143400"/>
          </a:xfrm>
        </p:grpSpPr>
        <p:sp>
          <p:nvSpPr>
            <p:cNvPr id="184" name="Google Shape;184;p24"/>
            <p:cNvSpPr/>
            <p:nvPr/>
          </p:nvSpPr>
          <p:spPr>
            <a:xfrm>
              <a:off x="285750" y="1143000"/>
              <a:ext cx="1619100" cy="3143400"/>
            </a:xfrm>
            <a:prstGeom prst="roundRect">
              <a:avLst>
                <a:gd fmla="val 4705" name="adj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4"/>
            <p:cNvSpPr txBox="1"/>
            <p:nvPr/>
          </p:nvSpPr>
          <p:spPr>
            <a:xfrm>
              <a:off x="381000" y="1238250"/>
              <a:ext cx="1428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01. Data &amp; Target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tr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Predicting the "Total MWh" target using time data (Hour, Month, Day).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24"/>
          <p:cNvGrpSpPr/>
          <p:nvPr/>
        </p:nvGrpSpPr>
        <p:grpSpPr>
          <a:xfrm>
            <a:off x="2000250" y="1143000"/>
            <a:ext cx="1619100" cy="3143400"/>
            <a:chOff x="2000250" y="1143000"/>
            <a:chExt cx="1619100" cy="3143400"/>
          </a:xfrm>
        </p:grpSpPr>
        <p:sp>
          <p:nvSpPr>
            <p:cNvPr id="187" name="Google Shape;187;p24"/>
            <p:cNvSpPr/>
            <p:nvPr/>
          </p:nvSpPr>
          <p:spPr>
            <a:xfrm>
              <a:off x="2000250" y="1143000"/>
              <a:ext cx="1619100" cy="3143400"/>
            </a:xfrm>
            <a:prstGeom prst="roundRect">
              <a:avLst>
                <a:gd fmla="val 4705" name="adj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4"/>
            <p:cNvSpPr txBox="1"/>
            <p:nvPr/>
          </p:nvSpPr>
          <p:spPr>
            <a:xfrm>
              <a:off x="2095500" y="1238250"/>
              <a:ext cx="1428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02. Preprocessing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tr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Extracting meaningful features from date variables (Feature Engineering) and scaling them using </a:t>
              </a:r>
              <a:r>
                <a:rPr b="0" lang="tr" sz="900">
                  <a:solidFill>
                    <a:srgbClr val="CBD5E1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StandardScaler</a:t>
              </a:r>
              <a:r>
                <a:rPr b="0" lang="tr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for machine learning.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9" name="Google Shape;189;p24"/>
          <p:cNvGrpSpPr/>
          <p:nvPr/>
        </p:nvGrpSpPr>
        <p:grpSpPr>
          <a:xfrm>
            <a:off x="3714750" y="1143000"/>
            <a:ext cx="1619100" cy="3143400"/>
            <a:chOff x="3714750" y="1143000"/>
            <a:chExt cx="1619100" cy="3143400"/>
          </a:xfrm>
        </p:grpSpPr>
        <p:sp>
          <p:nvSpPr>
            <p:cNvPr id="190" name="Google Shape;190;p24"/>
            <p:cNvSpPr/>
            <p:nvPr/>
          </p:nvSpPr>
          <p:spPr>
            <a:xfrm>
              <a:off x="3714750" y="1143000"/>
              <a:ext cx="1619100" cy="3143400"/>
            </a:xfrm>
            <a:prstGeom prst="roundRect">
              <a:avLst>
                <a:gd fmla="val 4705" name="adj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4"/>
            <p:cNvSpPr txBox="1"/>
            <p:nvPr/>
          </p:nvSpPr>
          <p:spPr>
            <a:xfrm>
              <a:off x="3810000" y="1238250"/>
              <a:ext cx="1428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03. Tournament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tr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Clash of Algorithms: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94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Inter"/>
                <a:buChar char="●"/>
              </a:pPr>
              <a:r>
                <a:rPr b="0" lang="tr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Linear Regression</a:t>
              </a:r>
              <a:endParaRPr b="0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94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Inter"/>
                <a:buChar char="●"/>
              </a:pPr>
              <a:r>
                <a:rPr b="0" lang="tr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AdaBoost Regressor</a:t>
              </a:r>
              <a:endParaRPr b="0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2" name="Google Shape;192;p24"/>
          <p:cNvGrpSpPr/>
          <p:nvPr/>
        </p:nvGrpSpPr>
        <p:grpSpPr>
          <a:xfrm>
            <a:off x="5429250" y="1143000"/>
            <a:ext cx="1619100" cy="3143400"/>
            <a:chOff x="5429250" y="1143000"/>
            <a:chExt cx="1619100" cy="3143400"/>
          </a:xfrm>
        </p:grpSpPr>
        <p:sp>
          <p:nvSpPr>
            <p:cNvPr id="193" name="Google Shape;193;p24"/>
            <p:cNvSpPr/>
            <p:nvPr/>
          </p:nvSpPr>
          <p:spPr>
            <a:xfrm>
              <a:off x="5429250" y="1143000"/>
              <a:ext cx="1619100" cy="3143400"/>
            </a:xfrm>
            <a:prstGeom prst="roundRect">
              <a:avLst>
                <a:gd fmla="val 4705" name="adj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4"/>
            <p:cNvSpPr txBox="1"/>
            <p:nvPr/>
          </p:nvSpPr>
          <p:spPr>
            <a:xfrm>
              <a:off x="5524500" y="1238250"/>
              <a:ext cx="1428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04. Optimization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tr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Grid Search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tr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Mathematically searching for hyperparameters to ensure AdaBoost delivers maximum performance.</a:t>
              </a:r>
              <a:endParaRPr b="0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5" name="Google Shape;195;p24"/>
          <p:cNvSpPr/>
          <p:nvPr/>
        </p:nvSpPr>
        <p:spPr>
          <a:xfrm>
            <a:off x="7143750" y="1143000"/>
            <a:ext cx="1619100" cy="3143400"/>
          </a:xfrm>
          <a:prstGeom prst="roundRect">
            <a:avLst>
              <a:gd fmla="val 4705" name="adj"/>
            </a:avLst>
          </a:prstGeom>
          <a:solidFill>
            <a:srgbClr val="1E293B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7239000" y="1238250"/>
            <a:ext cx="14289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05. Action Engine</a:t>
            </a:r>
            <a:endParaRPr b="1" sz="11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tr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Providing practical and strategic actions to the Grid Operator based on the prediction results.</a:t>
            </a:r>
            <a:endParaRPr b="0" sz="9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5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202" name="Google Shape;202;p25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25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05" name="Google Shape;205;p25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5"/>
            <p:cNvSpPr txBox="1"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08" name="Google Shape;208;p25"/>
          <p:cNvSpPr txBox="1"/>
          <p:nvPr>
            <p:ph type="title"/>
          </p:nvPr>
        </p:nvSpPr>
        <p:spPr>
          <a:xfrm>
            <a:off x="297180" y="318135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Phase 1: Feature Engineering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297180" y="1143000"/>
            <a:ext cx="85497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9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5"/>
          <p:cNvGrpSpPr/>
          <p:nvPr/>
        </p:nvGrpSpPr>
        <p:grpSpPr>
          <a:xfrm>
            <a:off x="297180" y="1143000"/>
            <a:ext cx="8549700" cy="333300"/>
            <a:chOff x="297180" y="1143000"/>
            <a:chExt cx="8549700" cy="333300"/>
          </a:xfrm>
        </p:grpSpPr>
        <p:sp>
          <p:nvSpPr>
            <p:cNvPr id="212" name="Google Shape;212;p25"/>
            <p:cNvSpPr/>
            <p:nvPr/>
          </p:nvSpPr>
          <p:spPr>
            <a:xfrm>
              <a:off x="297180" y="1143000"/>
              <a:ext cx="8549700" cy="333300"/>
            </a:xfrm>
            <a:prstGeom prst="roundRect">
              <a:avLst>
                <a:gd fmla="val 3428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5"/>
            <p:cNvSpPr/>
            <p:nvPr/>
          </p:nvSpPr>
          <p:spPr>
            <a:xfrm>
              <a:off x="476250" y="1262063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5"/>
            <p:cNvSpPr/>
            <p:nvPr/>
          </p:nvSpPr>
          <p:spPr>
            <a:xfrm>
              <a:off x="619125" y="1262063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5"/>
            <p:cNvSpPr/>
            <p:nvPr/>
          </p:nvSpPr>
          <p:spPr>
            <a:xfrm>
              <a:off x="762000" y="1262063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5"/>
            <p:cNvSpPr txBox="1"/>
            <p:nvPr/>
          </p:nvSpPr>
          <p:spPr>
            <a:xfrm>
              <a:off x="1000125" y="114300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train</a:t>
              </a:r>
              <a:r>
                <a:rPr lang="tr" sz="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.py</a:t>
              </a:r>
              <a:endParaRPr sz="9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487680" y="1571625"/>
            <a:ext cx="8168700" cy="276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We extract patterns that the machine can understand from date and time data.</a:t>
            </a:r>
            <a:endParaRPr sz="1271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'Tarih'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 = pd.to_datetime(df[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'Tarih'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lang="tr" sz="1271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tr" sz="1271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.%m.%Y'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71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'Saat_Num'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'Saat'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].str.split(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':'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).str[</a:t>
            </a:r>
            <a:r>
              <a:rPr lang="tr" sz="1271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].astype(</a:t>
            </a:r>
            <a:r>
              <a:rPr lang="tr" sz="1271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71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71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Time series features</a:t>
            </a:r>
            <a:endParaRPr sz="1271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'Day'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'Tarih'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].dt.day</a:t>
            </a:r>
            <a:endParaRPr sz="1271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'Month'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'Tarih'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].dt.month</a:t>
            </a:r>
            <a:endParaRPr sz="127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'DayOfWeek'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'Tarih'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].dt.dayofweek</a:t>
            </a:r>
            <a:endParaRPr sz="1271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'Is_Weekend'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'DayOfWeek'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].isin([</a:t>
            </a:r>
            <a:r>
              <a:rPr lang="tr" sz="1271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tr" sz="1271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]).astype(</a:t>
            </a:r>
            <a:r>
              <a:rPr lang="tr" sz="1271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71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'Hour'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tr" sz="1271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'Saat_Num'</a:t>
            </a:r>
            <a:r>
              <a:rPr lang="tr" sz="1271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71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71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03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6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223" name="Google Shape;223;p26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26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26" name="Google Shape;226;p26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6"/>
            <p:cNvSpPr txBox="1"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29" name="Google Shape;229;p26"/>
          <p:cNvSpPr txBox="1"/>
          <p:nvPr>
            <p:ph type="title"/>
          </p:nvPr>
        </p:nvSpPr>
        <p:spPr>
          <a:xfrm>
            <a:off x="297180" y="318135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Phase 2: Model Tournament and Optimization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297180" y="1143000"/>
            <a:ext cx="85497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9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6"/>
          <p:cNvGrpSpPr/>
          <p:nvPr/>
        </p:nvGrpSpPr>
        <p:grpSpPr>
          <a:xfrm>
            <a:off x="297180" y="1143000"/>
            <a:ext cx="8549700" cy="333300"/>
            <a:chOff x="297180" y="1143000"/>
            <a:chExt cx="8549700" cy="333300"/>
          </a:xfrm>
        </p:grpSpPr>
        <p:sp>
          <p:nvSpPr>
            <p:cNvPr id="233" name="Google Shape;233;p26"/>
            <p:cNvSpPr/>
            <p:nvPr/>
          </p:nvSpPr>
          <p:spPr>
            <a:xfrm>
              <a:off x="297180" y="1143000"/>
              <a:ext cx="8549700" cy="333300"/>
            </a:xfrm>
            <a:prstGeom prst="roundRect">
              <a:avLst>
                <a:gd fmla="val 3428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76250" y="1262063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619125" y="1262063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762000" y="1262063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6"/>
            <p:cNvSpPr txBox="1"/>
            <p:nvPr/>
          </p:nvSpPr>
          <p:spPr>
            <a:xfrm>
              <a:off x="1000125" y="114300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train.py</a:t>
              </a:r>
              <a:endParaRPr sz="9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8" name="Google Shape;238;p26"/>
          <p:cNvGrpSpPr/>
          <p:nvPr/>
        </p:nvGrpSpPr>
        <p:grpSpPr>
          <a:xfrm>
            <a:off x="485775" y="1571625"/>
            <a:ext cx="3981600" cy="2762400"/>
            <a:chOff x="485775" y="1571625"/>
            <a:chExt cx="3981600" cy="2762400"/>
          </a:xfrm>
        </p:grpSpPr>
        <p:sp>
          <p:nvSpPr>
            <p:cNvPr id="239" name="Google Shape;239;p26"/>
            <p:cNvSpPr/>
            <p:nvPr/>
          </p:nvSpPr>
          <p:spPr>
            <a:xfrm>
              <a:off x="485775" y="1571625"/>
              <a:ext cx="39816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6"/>
            <p:cNvSpPr txBox="1"/>
            <p:nvPr/>
          </p:nvSpPr>
          <p:spPr>
            <a:xfrm>
              <a:off x="485775" y="1571625"/>
              <a:ext cx="39816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We compete the models using RMSE and R² metrics</a:t>
              </a:r>
              <a:endParaRPr sz="10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ada_base = AdaBoostRegressor(</a:t>
              </a:r>
              <a:r>
                <a:rPr lang="tr" sz="1050">
                  <a:solidFill>
                    <a:srgbClr val="9CDCF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random_state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42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param_grid = {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tr" sz="10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'n_estimators'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[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50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100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200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],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tr" sz="10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'learning_rate'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[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0.01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0.1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1.0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8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1" name="Google Shape;241;p26"/>
          <p:cNvGrpSpPr/>
          <p:nvPr/>
        </p:nvGrpSpPr>
        <p:grpSpPr>
          <a:xfrm>
            <a:off x="4676775" y="1571625"/>
            <a:ext cx="3981600" cy="2762400"/>
            <a:chOff x="4676775" y="1571625"/>
            <a:chExt cx="3981600" cy="2762400"/>
          </a:xfrm>
        </p:grpSpPr>
        <p:sp>
          <p:nvSpPr>
            <p:cNvPr id="242" name="Google Shape;242;p26"/>
            <p:cNvSpPr/>
            <p:nvPr/>
          </p:nvSpPr>
          <p:spPr>
            <a:xfrm>
              <a:off x="4676775" y="1571625"/>
              <a:ext cx="39816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 txBox="1"/>
            <p:nvPr/>
          </p:nvSpPr>
          <p:spPr>
            <a:xfrm>
              <a:off x="4676775" y="1571625"/>
              <a:ext cx="39816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We mathematically search for the best parameters using GridSearchCV</a:t>
              </a:r>
              <a:endParaRPr sz="10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grid_search = GridSearchCV(</a:t>
              </a:r>
              <a:r>
                <a:rPr lang="tr" sz="1050">
                  <a:solidFill>
                    <a:srgbClr val="9CDCF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estimator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=ada_base, </a:t>
              </a:r>
              <a:r>
                <a:rPr lang="tr" sz="1050">
                  <a:solidFill>
                    <a:srgbClr val="9CDCF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param_grid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=param_grid, </a:t>
              </a:r>
              <a:r>
                <a:rPr lang="tr" sz="1050">
                  <a:solidFill>
                    <a:srgbClr val="9CDCF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cv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tr" sz="10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tr" sz="1050">
                  <a:solidFill>
                    <a:srgbClr val="9CDCF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scoring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tr" sz="10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'neg_mean_squared_error'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grid_search.fit(X_train_scaled, y_train)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44" name="Google Shape;24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1762125"/>
            <a:ext cx="9600" cy="23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7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250" name="Google Shape;250;p27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27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53" name="Google Shape;253;p27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 txBox="1"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56" name="Google Shape;256;p27"/>
          <p:cNvSpPr txBox="1"/>
          <p:nvPr>
            <p:ph type="title"/>
          </p:nvPr>
        </p:nvSpPr>
        <p:spPr>
          <a:xfrm>
            <a:off x="297180" y="318135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Phase 3: Deployment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297180" y="1143000"/>
            <a:ext cx="85497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9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297180" y="1143000"/>
            <a:ext cx="8549700" cy="333300"/>
            <a:chOff x="297180" y="1143000"/>
            <a:chExt cx="8549700" cy="333300"/>
          </a:xfrm>
        </p:grpSpPr>
        <p:sp>
          <p:nvSpPr>
            <p:cNvPr id="260" name="Google Shape;260;p27"/>
            <p:cNvSpPr/>
            <p:nvPr/>
          </p:nvSpPr>
          <p:spPr>
            <a:xfrm>
              <a:off x="297180" y="1143000"/>
              <a:ext cx="8549700" cy="333300"/>
            </a:xfrm>
            <a:prstGeom prst="roundRect">
              <a:avLst>
                <a:gd fmla="val 3428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476250" y="1262063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619125" y="1262063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762000" y="1262063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 txBox="1"/>
            <p:nvPr/>
          </p:nvSpPr>
          <p:spPr>
            <a:xfrm>
              <a:off x="1000125" y="114300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train.py</a:t>
              </a:r>
              <a:endParaRPr sz="9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65" name="Google Shape;265;p27"/>
          <p:cNvGrpSpPr/>
          <p:nvPr/>
        </p:nvGrpSpPr>
        <p:grpSpPr>
          <a:xfrm>
            <a:off x="485775" y="1571625"/>
            <a:ext cx="3981600" cy="2762400"/>
            <a:chOff x="485775" y="1571625"/>
            <a:chExt cx="3981600" cy="2762400"/>
          </a:xfrm>
        </p:grpSpPr>
        <p:sp>
          <p:nvSpPr>
            <p:cNvPr id="266" name="Google Shape;266;p27"/>
            <p:cNvSpPr/>
            <p:nvPr/>
          </p:nvSpPr>
          <p:spPr>
            <a:xfrm>
              <a:off x="485775" y="1571625"/>
              <a:ext cx="39816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 txBox="1"/>
            <p:nvPr/>
          </p:nvSpPr>
          <p:spPr>
            <a:xfrm>
              <a:off x="485775" y="1571625"/>
              <a:ext cx="39816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We select the model with the lowest error rate (highest R2)</a:t>
              </a:r>
              <a:endParaRPr sz="10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ada_r2 &gt; lr_r2: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best_model = best_ada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best_model = lr_model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8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68" name="Google Shape;268;p27"/>
          <p:cNvGrpSpPr/>
          <p:nvPr/>
        </p:nvGrpSpPr>
        <p:grpSpPr>
          <a:xfrm>
            <a:off x="4676775" y="1571625"/>
            <a:ext cx="3981600" cy="2762400"/>
            <a:chOff x="4676775" y="1571625"/>
            <a:chExt cx="3981600" cy="2762400"/>
          </a:xfrm>
        </p:grpSpPr>
        <p:sp>
          <p:nvSpPr>
            <p:cNvPr id="269" name="Google Shape;269;p27"/>
            <p:cNvSpPr/>
            <p:nvPr/>
          </p:nvSpPr>
          <p:spPr>
            <a:xfrm>
              <a:off x="4676775" y="1571625"/>
              <a:ext cx="39816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7"/>
            <p:cNvSpPr txBox="1"/>
            <p:nvPr/>
          </p:nvSpPr>
          <p:spPr>
            <a:xfrm>
              <a:off x="4676775" y="1571625"/>
              <a:ext cx="39816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We package the model for our web application </a:t>
              </a:r>
              <a:endParaRPr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with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tr" sz="105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open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tr" sz="10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'model_package.pkl'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tr" sz="10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'wb'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lang="tr" sz="10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f: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tr" sz="10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pickle.dump(save_data, f)</a:t>
              </a:r>
              <a:endParaRPr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71" name="Google Shape;27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1762125"/>
            <a:ext cx="9600" cy="23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8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277" name="Google Shape;277;p28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" name="Google Shape;279;p28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80" name="Google Shape;280;p28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 txBox="1"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83" name="Google Shape;283;p28"/>
          <p:cNvSpPr txBox="1"/>
          <p:nvPr>
            <p:ph type="title"/>
          </p:nvPr>
        </p:nvSpPr>
        <p:spPr>
          <a:xfrm>
            <a:off x="297180" y="318135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Factors Influencing the Decision (Feature Importance)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4953000" y="1381125"/>
            <a:ext cx="3810000" cy="2857500"/>
          </a:xfrm>
          <a:prstGeom prst="roundRect">
            <a:avLst>
              <a:gd fmla="val 4000" name="adj"/>
            </a:avLst>
          </a:prstGeom>
          <a:solidFill>
            <a:srgbClr val="1E293B">
              <a:alpha val="9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8"/>
          <p:cNvPicPr preferRelativeResize="0"/>
          <p:nvPr/>
        </p:nvPicPr>
        <p:blipFill rotWithShape="1">
          <a:blip r:embed="rId4">
            <a:alphaModFix/>
          </a:blip>
          <a:srcRect b="7184" l="0" r="0" t="7192"/>
          <a:stretch/>
        </p:blipFill>
        <p:spPr>
          <a:xfrm>
            <a:off x="457200" y="1381125"/>
            <a:ext cx="41913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5143500" y="1571625"/>
            <a:ext cx="3429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4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Explainable AI</a:t>
            </a:r>
            <a:endParaRPr b="0" sz="14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AdaBoost model does not just make a prediction; it also explains </a:t>
            </a:r>
            <a:r>
              <a:rPr b="1" lang="tr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lang="tr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based this prediction on.</a:t>
            </a:r>
            <a:endParaRPr sz="11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Hour:</a:t>
            </a:r>
            <a:br>
              <a:rPr lang="tr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tr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difference between daytime peak hours and nighttime hours is the most determining factor.</a:t>
            </a:r>
            <a:endParaRPr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Weekend (Is_Weekend):</a:t>
            </a:r>
            <a:br>
              <a:rPr lang="tr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tr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crucial factor that shifts production needs due to the drop in industrial consumption.</a:t>
            </a:r>
            <a:endParaRPr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9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293" name="Google Shape;293;p29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" name="Google Shape;295;p29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96" name="Google Shape;296;p29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9"/>
            <p:cNvSpPr txBox="1"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99" name="Google Shape;299;p29"/>
          <p:cNvSpPr txBox="1"/>
          <p:nvPr>
            <p:ph type="title"/>
          </p:nvPr>
        </p:nvSpPr>
        <p:spPr>
          <a:xfrm>
            <a:off x="297180" y="318135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How our system works? (Example logs)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297180" y="1143000"/>
            <a:ext cx="85497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9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29"/>
          <p:cNvGrpSpPr/>
          <p:nvPr/>
        </p:nvGrpSpPr>
        <p:grpSpPr>
          <a:xfrm>
            <a:off x="297180" y="1143000"/>
            <a:ext cx="8549700" cy="333300"/>
            <a:chOff x="297180" y="1143000"/>
            <a:chExt cx="8549700" cy="333300"/>
          </a:xfrm>
        </p:grpSpPr>
        <p:sp>
          <p:nvSpPr>
            <p:cNvPr id="303" name="Google Shape;303;p29"/>
            <p:cNvSpPr/>
            <p:nvPr/>
          </p:nvSpPr>
          <p:spPr>
            <a:xfrm>
              <a:off x="297180" y="1143000"/>
              <a:ext cx="8549700" cy="333300"/>
            </a:xfrm>
            <a:prstGeom prst="roundRect">
              <a:avLst>
                <a:gd fmla="val 3428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476250" y="1262063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9"/>
            <p:cNvSpPr/>
            <p:nvPr/>
          </p:nvSpPr>
          <p:spPr>
            <a:xfrm>
              <a:off x="619125" y="1262063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>
              <a:off x="762000" y="1262063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9"/>
            <p:cNvSpPr txBox="1"/>
            <p:nvPr/>
          </p:nvSpPr>
          <p:spPr>
            <a:xfrm>
              <a:off x="1000125" y="114300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train.py</a:t>
              </a:r>
              <a:endParaRPr sz="9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08" name="Google Shape;308;p29"/>
          <p:cNvGrpSpPr/>
          <p:nvPr/>
        </p:nvGrpSpPr>
        <p:grpSpPr>
          <a:xfrm>
            <a:off x="485775" y="1571625"/>
            <a:ext cx="8206200" cy="2762400"/>
            <a:chOff x="485775" y="1571625"/>
            <a:chExt cx="8206200" cy="2762400"/>
          </a:xfrm>
        </p:grpSpPr>
        <p:sp>
          <p:nvSpPr>
            <p:cNvPr id="309" name="Google Shape;309;p29"/>
            <p:cNvSpPr/>
            <p:nvPr/>
          </p:nvSpPr>
          <p:spPr>
            <a:xfrm>
              <a:off x="485775" y="1571625"/>
              <a:ext cx="39816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9"/>
            <p:cNvSpPr txBox="1"/>
            <p:nvPr/>
          </p:nvSpPr>
          <p:spPr>
            <a:xfrm>
              <a:off x="485775" y="1571625"/>
              <a:ext cx="82062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Loading data...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Performing data preprocessing and feature engineering...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--- Training Linear Regression ---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Linear Regression Results -&gt; RMSE: 4812.75, MAE: 3873.57, R^2: 0.4006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--- Starting AdaBoost Grid Search---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AdaBoost Best Parameters: {'learning_rate': 1.0, 'n_estimators': 200}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AdaBoost Results -&gt; RMSE: 3294.66, MAE: 2722.92, R²: 0.7191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[WINNER] Model: AdaBoost Regressor (R²: 0.7191, RMSE: 3294.66)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1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Model and components successfully saved as 'model_package.pkl'.</a:t>
              </a:r>
              <a:endParaRPr sz="11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11" name="Google Shape;3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1762125"/>
            <a:ext cx="9600" cy="23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0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317" name="Google Shape;317;p30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30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320" name="Google Shape;320;p30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 txBox="1"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23" name="Google Shape;323;p30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297180" y="1143000"/>
            <a:ext cx="8549700" cy="3333900"/>
          </a:xfrm>
          <a:prstGeom prst="roundRect">
            <a:avLst>
              <a:gd fmla="val 3427" name="adj"/>
            </a:avLst>
          </a:prstGeom>
          <a:solidFill>
            <a:srgbClr val="1E293B">
              <a:alpha val="9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485775" y="1381125"/>
            <a:ext cx="3905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b="1" lang="tr" sz="14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A single model can sometimes fail to capture complex data patterns (Underfitting).</a:t>
            </a:r>
            <a:endParaRPr b="1" sz="14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Solution (AdaBoost):</a:t>
            </a:r>
            <a:r>
              <a:rPr b="1" lang="tr" sz="14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The model sequentially trains hundreds of "Weak Learners" (Usually shallow decision trees). Each new tree </a:t>
            </a:r>
            <a:r>
              <a:rPr b="1" lang="tr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focuses on the errors</a:t>
            </a:r>
            <a:r>
              <a:rPr b="1" lang="tr" sz="14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of the previous tree and tries to correct them.</a:t>
            </a:r>
            <a:endParaRPr b="1" sz="14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1" lang="tr" sz="14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The combination of these weak learners creates an "Ensemble" that is highly powerful, flexible, and accurate.</a:t>
            </a:r>
            <a:endParaRPr b="1" sz="14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6" name="Google Shape;326;p30"/>
          <p:cNvGrpSpPr/>
          <p:nvPr/>
        </p:nvGrpSpPr>
        <p:grpSpPr>
          <a:xfrm>
            <a:off x="4953000" y="1333500"/>
            <a:ext cx="3619500" cy="2952900"/>
            <a:chOff x="4953000" y="1333500"/>
            <a:chExt cx="3619500" cy="2952900"/>
          </a:xfrm>
        </p:grpSpPr>
        <p:sp>
          <p:nvSpPr>
            <p:cNvPr id="327" name="Google Shape;327;p30"/>
            <p:cNvSpPr/>
            <p:nvPr/>
          </p:nvSpPr>
          <p:spPr>
            <a:xfrm>
              <a:off x="4953000" y="1333500"/>
              <a:ext cx="3619500" cy="2952900"/>
            </a:xfrm>
            <a:prstGeom prst="roundRect">
              <a:avLst>
                <a:gd fmla="val 5161" name="adj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ofessional, clean scientific diagram illustrating 'AdaBoost' or 'Boosting' machine learning concept. Shows multiple weak decision trees sequentially correcting errors of the previous one, leading to a strong final ensemble model. Corporate blue and white color palette, minimal and high-tech feel." id="328" name="Google Shape;328;p30"/>
            <p:cNvPicPr preferRelativeResize="0"/>
            <p:nvPr/>
          </p:nvPicPr>
          <p:blipFill rotWithShape="1">
            <a:blip r:embed="rId4">
              <a:alphaModFix/>
            </a:blip>
            <a:srcRect b="0" l="8423" r="8423" t="0"/>
            <a:stretch/>
          </p:blipFill>
          <p:spPr>
            <a:xfrm>
              <a:off x="5143500" y="1524000"/>
              <a:ext cx="3238500" cy="2190900"/>
            </a:xfrm>
            <a:prstGeom prst="roundRect">
              <a:avLst>
                <a:gd fmla="val 5217" name="adj"/>
              </a:avLst>
            </a:prstGeom>
            <a:noFill/>
            <a:ln>
              <a:noFill/>
            </a:ln>
          </p:spPr>
        </p:pic>
        <p:sp>
          <p:nvSpPr>
            <p:cNvPr id="329" name="Google Shape;329;p30"/>
            <p:cNvSpPr txBox="1"/>
            <p:nvPr/>
          </p:nvSpPr>
          <p:spPr>
            <a:xfrm>
              <a:off x="5143500" y="3857625"/>
              <a:ext cx="32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tr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Adaptive Boosting (AdaBoost) Mechanism</a:t>
              </a:r>
              <a:endParaRPr i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0" name="Google Shape;330;p30"/>
          <p:cNvSpPr txBox="1"/>
          <p:nvPr>
            <p:ph type="title"/>
          </p:nvPr>
        </p:nvSpPr>
        <p:spPr>
          <a:xfrm>
            <a:off x="297180" y="318135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Math Behind It: Ensemble and Boosting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31"/>
          <p:cNvGrpSpPr/>
          <p:nvPr/>
        </p:nvGrpSpPr>
        <p:grpSpPr>
          <a:xfrm>
            <a:off x="0" y="-476250"/>
            <a:ext cx="9525000" cy="5715000"/>
            <a:chOff x="0" y="-476250"/>
            <a:chExt cx="9525000" cy="5715000"/>
          </a:xfrm>
        </p:grpSpPr>
        <p:sp>
          <p:nvSpPr>
            <p:cNvPr id="336" name="Google Shape;336;p31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1"/>
            <p:cNvSpPr/>
            <p:nvPr/>
          </p:nvSpPr>
          <p:spPr>
            <a:xfrm>
              <a:off x="0" y="3333750"/>
              <a:ext cx="1905000" cy="1905000"/>
            </a:xfrm>
            <a:prstGeom prst="ellipse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8" name="Google Shape;338;p31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339" name="Google Shape;339;p31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1"/>
            <p:cNvSpPr txBox="1"/>
            <p:nvPr/>
          </p:nvSpPr>
          <p:spPr>
            <a:xfrm>
              <a:off x="0" y="466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Abdülmecid Demirhan | Muhammet Emin Meşe | Yunus Emre Aydın | Osman Djuraev | Mehmet Emir Selvi</a:t>
              </a:r>
              <a:endParaRPr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42" name="Google Shape;342;p31"/>
          <p:cNvSpPr/>
          <p:nvPr/>
        </p:nvSpPr>
        <p:spPr>
          <a:xfrm>
            <a:off x="297180" y="900113"/>
            <a:ext cx="358200" cy="35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"/>
          <p:cNvSpPr/>
          <p:nvPr/>
        </p:nvSpPr>
        <p:spPr>
          <a:xfrm>
            <a:off x="297180" y="1143000"/>
            <a:ext cx="8549700" cy="3333900"/>
          </a:xfrm>
          <a:prstGeom prst="roundRect">
            <a:avLst>
              <a:gd fmla="val 3427" name="adj"/>
            </a:avLst>
          </a:prstGeom>
          <a:solidFill>
            <a:srgbClr val="1E293B">
              <a:alpha val="9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485775" y="1381125"/>
            <a:ext cx="811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Our system doesn't just provide a Number; it generates a strategy for the Grid Operator: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1. Critical Load (&gt;40,000 MWh): </a:t>
            </a:r>
            <a:r>
              <a:rPr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Peak hours where renewable energy won't suffice. 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Action: Activate Natural Gas/Coal power plants.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2. Balanced Load (32,000 - 40,000 MWh):</a:t>
            </a:r>
            <a:r>
              <a:rPr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Routine demand. 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Action: Optimize costs with Hydroelectric (Dam) and Wind power.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3. Low Load (&lt;32,000 MWh): </a:t>
            </a:r>
            <a:r>
              <a:rPr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Nighttime or weekend hours. 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Action: Prevent overproduction or activate storage (Pumped-storage) systems.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1"/>
          <p:cNvSpPr txBox="1"/>
          <p:nvPr>
            <p:ph type="title"/>
          </p:nvPr>
        </p:nvSpPr>
        <p:spPr>
          <a:xfrm>
            <a:off x="297180" y="318135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Scenario Application: Practical Implications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1E293B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0" y="3333750"/>
            <a:ext cx="1905000" cy="1905000"/>
          </a:xfrm>
          <a:prstGeom prst="ellipse">
            <a:avLst/>
          </a:prstGeom>
          <a:solidFill>
            <a:srgbClr val="334155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762000" y="1333500"/>
            <a:ext cx="7620000" cy="1905000"/>
          </a:xfrm>
          <a:prstGeom prst="roundRect">
            <a:avLst>
              <a:gd fmla="val 10000" name="adj"/>
            </a:avLst>
          </a:prstGeom>
          <a:solidFill>
            <a:srgbClr val="1E293B">
              <a:alpha val="9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4286250" y="1524000"/>
            <a:ext cx="571500" cy="57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762000" y="17145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Time to Simple Demo</a:t>
            </a:r>
            <a:endParaRPr b="1"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0" y="4667250"/>
            <a:ext cx="9144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0" y="466725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Abdülmecid Demirhan | Muhammet Emin Meşe | Yunus Emre Aydın | Osman Djuraev | Mehmet Emir Selvi</a:t>
            </a:r>
            <a:endParaRPr sz="10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1E293B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3"/>
          <p:cNvSpPr/>
          <p:nvPr/>
        </p:nvSpPr>
        <p:spPr>
          <a:xfrm>
            <a:off x="0" y="3333750"/>
            <a:ext cx="1905000" cy="1905000"/>
          </a:xfrm>
          <a:prstGeom prst="ellipse">
            <a:avLst/>
          </a:prstGeom>
          <a:solidFill>
            <a:srgbClr val="334155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0" y="4667250"/>
            <a:ext cx="9144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0" y="466725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Abdülmecid Demirhan | Muhammet Emin Meşe | Yunus Emre Aydın | Osman Djuraev | Mehmet Emir Selvi</a:t>
            </a:r>
            <a:endParaRPr sz="10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295275" y="895350"/>
            <a:ext cx="3621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295275" y="1143000"/>
            <a:ext cx="85536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9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33"/>
          <p:cNvCxnSpPr/>
          <p:nvPr/>
        </p:nvCxnSpPr>
        <p:spPr>
          <a:xfrm>
            <a:off x="4562475" y="1333500"/>
            <a:ext cx="0" cy="2952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33"/>
          <p:cNvSpPr txBox="1"/>
          <p:nvPr/>
        </p:nvSpPr>
        <p:spPr>
          <a:xfrm>
            <a:off x="295275" y="314325"/>
            <a:ext cx="851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Winter Night Low Load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476250" y="1381125"/>
            <a:ext cx="39054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</a:t>
            </a:r>
            <a:r>
              <a:rPr b="0" lang="tr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Values:</a:t>
            </a:r>
            <a:endParaRPr b="0" sz="11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Inter"/>
              <a:buChar char="●"/>
            </a:pPr>
            <a:r>
              <a:rPr lang="tr" sz="110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February 15, 2025 - 03:00 AM (Weekend)</a:t>
            </a:r>
            <a:endParaRPr b="0"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Expected: Factories are closed, home lights are off. Low production estimate and a "Put base-load plants on standby" warning.</a:t>
            </a:r>
            <a:endParaRPr b="1"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1E293B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0" y="3333750"/>
            <a:ext cx="1905000" cy="1905000"/>
          </a:xfrm>
          <a:prstGeom prst="ellipse">
            <a:avLst/>
          </a:prstGeom>
          <a:solidFill>
            <a:srgbClr val="334155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0" y="4667250"/>
            <a:ext cx="9144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0" y="466725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Abdülmecid Demirhan | Muhammet Emin Meşe | Yunus Emre Aydın | Osman Djuraev | Mehmet Emir Selvi</a:t>
            </a:r>
            <a:endParaRPr sz="10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295275" y="895350"/>
            <a:ext cx="3621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295275" y="1143000"/>
            <a:ext cx="85536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9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0" name="Google Shape;380;p34"/>
          <p:cNvCxnSpPr/>
          <p:nvPr/>
        </p:nvCxnSpPr>
        <p:spPr>
          <a:xfrm>
            <a:off x="4562475" y="1333500"/>
            <a:ext cx="0" cy="2952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34"/>
          <p:cNvSpPr txBox="1"/>
          <p:nvPr/>
        </p:nvSpPr>
        <p:spPr>
          <a:xfrm>
            <a:off x="295275" y="314325"/>
            <a:ext cx="851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Weekday Peak Working Hour</a:t>
            </a:r>
            <a:endParaRPr b="1"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476250" y="1381125"/>
            <a:ext cx="39054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Values:</a:t>
            </a:r>
            <a:endParaRPr b="1" sz="11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Inter"/>
              <a:buChar char="●"/>
            </a:pPr>
            <a:r>
              <a:rPr lang="tr" sz="110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March 20, 2025 - 07:00 PM (Weekday)</a:t>
            </a:r>
            <a:endParaRPr b="0" sz="1100">
              <a:solidFill>
                <a:srgbClr val="CBD5E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Expected: </a:t>
            </a:r>
            <a:r>
              <a:rPr lang="tr" sz="11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Critical hour when people return home and industry partially continues. Very high production estimate and a "Critical grid status, keep reserve plants ready" warning.</a:t>
            </a:r>
            <a:endParaRPr sz="11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1E293B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5"/>
          <p:cNvSpPr/>
          <p:nvPr/>
        </p:nvSpPr>
        <p:spPr>
          <a:xfrm>
            <a:off x="0" y="3333750"/>
            <a:ext cx="1905000" cy="1905000"/>
          </a:xfrm>
          <a:prstGeom prst="ellipse">
            <a:avLst/>
          </a:prstGeom>
          <a:solidFill>
            <a:srgbClr val="334155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5"/>
          <p:cNvSpPr/>
          <p:nvPr/>
        </p:nvSpPr>
        <p:spPr>
          <a:xfrm>
            <a:off x="0" y="4667250"/>
            <a:ext cx="9144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5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295275" y="895350"/>
            <a:ext cx="3621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0" y="4667250"/>
            <a:ext cx="914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Abdülmecid Demirhan | Muhammet Emin Meşe | Yunus Emre Aydın | Osman Djuraev | Mehmet Emir Selvi</a:t>
            </a:r>
            <a:endParaRPr b="1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2" name="Google Shape;392;p35"/>
          <p:cNvGrpSpPr/>
          <p:nvPr/>
        </p:nvGrpSpPr>
        <p:grpSpPr>
          <a:xfrm>
            <a:off x="295275" y="314325"/>
            <a:ext cx="8553600" cy="3876675"/>
            <a:chOff x="295275" y="314325"/>
            <a:chExt cx="8553600" cy="3876675"/>
          </a:xfrm>
        </p:grpSpPr>
        <p:sp>
          <p:nvSpPr>
            <p:cNvPr id="393" name="Google Shape;393;p35"/>
            <p:cNvSpPr txBox="1"/>
            <p:nvPr/>
          </p:nvSpPr>
          <p:spPr>
            <a:xfrm>
              <a:off x="295275" y="314325"/>
              <a:ext cx="851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Thank You For Listening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grpSp>
          <p:nvGrpSpPr>
            <p:cNvPr id="394" name="Google Shape;394;p35"/>
            <p:cNvGrpSpPr/>
            <p:nvPr/>
          </p:nvGrpSpPr>
          <p:grpSpPr>
            <a:xfrm>
              <a:off x="295275" y="1333500"/>
              <a:ext cx="8553600" cy="2857500"/>
              <a:chOff x="295275" y="1333500"/>
              <a:chExt cx="8553600" cy="2857500"/>
            </a:xfrm>
          </p:grpSpPr>
          <p:sp>
            <p:nvSpPr>
              <p:cNvPr id="395" name="Google Shape;395;p35"/>
              <p:cNvSpPr/>
              <p:nvPr/>
            </p:nvSpPr>
            <p:spPr>
              <a:xfrm>
                <a:off x="295275" y="1333500"/>
                <a:ext cx="8553600" cy="2857500"/>
              </a:xfrm>
              <a:prstGeom prst="roundRect">
                <a:avLst>
                  <a:gd fmla="val 4000" name="adj"/>
                </a:avLst>
              </a:prstGeom>
              <a:solidFill>
                <a:srgbClr val="1E293B">
                  <a:alpha val="9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35"/>
              <p:cNvSpPr txBox="1"/>
              <p:nvPr/>
            </p:nvSpPr>
            <p:spPr>
              <a:xfrm>
                <a:off x="571500" y="1524000"/>
                <a:ext cx="8001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r" sz="18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Q&amp;A Session</a:t>
                </a:r>
                <a:endParaRPr b="1" sz="1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tr" sz="1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Why did AdaBoost win over Linear Regression?</a:t>
                </a:r>
                <a:endParaRPr b="1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tr" sz="12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Because the time/hour relationship is not always linear; it follows a complex fluctuation. AdaBoost captures this non-linear pattern very well.</a:t>
                </a:r>
                <a:endParaRPr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875"/>
                  </a:spcBef>
                  <a:spcAft>
                    <a:spcPts val="0"/>
                  </a:spcAft>
                  <a:buNone/>
                </a:pPr>
                <a:r>
                  <a:rPr b="1" lang="tr" sz="1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What are our evaluation metrics?</a:t>
                </a:r>
                <a:endParaRPr b="1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750"/>
                  </a:spcAft>
                  <a:buNone/>
                </a:pPr>
                <a:r>
                  <a:rPr lang="tr" sz="12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Since we used Regression, we used RMSE, MAE, and R².</a:t>
                </a:r>
                <a:endParaRPr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